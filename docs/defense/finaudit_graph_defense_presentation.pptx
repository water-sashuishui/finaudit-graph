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13232"/>
            <a:ext cx="7315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FinAudit-Graph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全流程智能财务审计与复核系统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38528"/>
            <a:ext cx="5760720" cy="0"/>
          </a:xfrm>
          <a:prstGeom prst="line">
            <a:avLst/>
          </a:prstGeom>
          <a:noFill/>
          <a:ln w="26670">
            <a:solidFill>
              <a:srgbClr val="0E9F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12848"/>
            <a:ext cx="8138160" cy="4572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从财务材料输入、智能审计分析、风险识别，到报告输出与 N8N 复核通知，形成可运行的审计闭环。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572768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0E9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840480"/>
            <a:ext cx="1353312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数据标注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2267712" y="4005072"/>
            <a:ext cx="612648" cy="0"/>
          </a:xfrm>
          <a:prstGeom prst="line">
            <a:avLst/>
          </a:prstGeom>
          <a:noFill/>
          <a:ln w="22860">
            <a:solidFill>
              <a:srgbClr val="64717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71800" y="3657600"/>
            <a:ext cx="1572768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1E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3840480"/>
            <a:ext cx="1353312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LoRA 微调(</a:t>
            </a:r>
            <a:r>
              <a:rPr lang="zh-CN" altLang="en-US" sz="86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未接入</a:t>
            </a:r>
            <a:r>
              <a:rPr lang="zh-CN" altLang="en-US" sz="86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流程）</a:t>
            </a:r>
            <a:endParaRPr lang="zh-CN" altLang="en-US" sz="860" b="1" dirty="0">
              <a:solidFill>
                <a:srgbClr val="1620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99432" y="4005072"/>
            <a:ext cx="612648" cy="0"/>
          </a:xfrm>
          <a:prstGeom prst="line">
            <a:avLst/>
          </a:prstGeom>
          <a:noFill/>
          <a:ln w="22860">
            <a:solidFill>
              <a:srgbClr val="64717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03520" y="3657600"/>
            <a:ext cx="1572768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13248" y="3840480"/>
            <a:ext cx="1353312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LangGraph 应用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6931152" y="4005072"/>
            <a:ext cx="612648" cy="0"/>
          </a:xfrm>
          <a:prstGeom prst="line">
            <a:avLst/>
          </a:prstGeom>
          <a:noFill/>
          <a:ln w="22860">
            <a:solidFill>
              <a:srgbClr val="64717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35240" y="3657600"/>
            <a:ext cx="1572768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44968" y="3840480"/>
            <a:ext cx="1353312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审计报告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9262872" y="4005072"/>
            <a:ext cx="612648" cy="0"/>
          </a:xfrm>
          <a:prstGeom prst="line">
            <a:avLst/>
          </a:prstGeom>
          <a:noFill/>
          <a:ln w="22860">
            <a:solidFill>
              <a:srgbClr val="64717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966960" y="3657600"/>
            <a:ext cx="1572768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76688" y="3840480"/>
            <a:ext cx="1353312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6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N8N 自动化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640080" y="4956048"/>
            <a:ext cx="1700784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8890">
            <a:solidFill>
              <a:srgbClr val="D8E2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5102352"/>
            <a:ext cx="137160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9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数据标注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04672" y="5413248"/>
            <a:ext cx="137160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标注样本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04672" y="5632704"/>
            <a:ext cx="13716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Label Studio 导出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15184" y="4956048"/>
            <a:ext cx="1700784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8890">
            <a:solidFill>
              <a:srgbClr val="D8E2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9776" y="5102352"/>
            <a:ext cx="137160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6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LoRA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779776" y="5413248"/>
            <a:ext cx="137160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微调产物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2779776" y="5632704"/>
            <a:ext cx="13716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Qwen2.5-1.5B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4590288" y="4956048"/>
            <a:ext cx="1700784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8890">
            <a:solidFill>
              <a:srgbClr val="D8E2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5102352"/>
            <a:ext cx="137160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4层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754880" y="5413248"/>
            <a:ext cx="137160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应用架构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4754880" y="5632704"/>
            <a:ext cx="13716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API/前端/智能/输出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6565392" y="4956048"/>
            <a:ext cx="1700784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8890">
            <a:solidFill>
              <a:srgbClr val="D8E2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9984" y="5102352"/>
            <a:ext cx="137160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241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N8N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729984" y="5413248"/>
            <a:ext cx="137160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复核闭环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6729984" y="5632704"/>
            <a:ext cx="13716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邮件通知 + 任务ID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7498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A87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FinAudit-Graph | 全流程智能财务审计与复核系统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11173968" y="636422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6355080"/>
            <a:ext cx="11064240" cy="0"/>
          </a:xfrm>
          <a:prstGeom prst="line">
            <a:avLst/>
          </a:prstGeom>
          <a:noFill/>
          <a:ln w="6350">
            <a:solidFill>
              <a:srgbClr val="CED7E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9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传统财务初审耗时高，FinAudit-Graph 把异常识别前移到系统流程里。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项目背景与目标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24612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8890">
            <a:solidFill>
              <a:srgbClr val="CED7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057400"/>
            <a:ext cx="256032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业务痛点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596896"/>
            <a:ext cx="73152" cy="7315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514600"/>
            <a:ext cx="2487168" cy="5394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Excel、合同、票据等材料分散，人工初筛成本高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868680" y="3163824"/>
            <a:ext cx="73152" cy="7315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3081528"/>
            <a:ext cx="2487168" cy="5394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异常指标、关联方交易、收入成本波动需要交叉核验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868680" y="3730752"/>
            <a:ext cx="73152" cy="7315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3272" y="3648456"/>
            <a:ext cx="2487168" cy="5394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高风险事项需要及时流转给复核人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434840" y="1828800"/>
            <a:ext cx="324612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8890">
            <a:solidFill>
              <a:srgbClr val="CED7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057400"/>
            <a:ext cx="256032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项目目标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09160" y="2596896"/>
            <a:ext cx="73152" cy="73152"/>
          </a:xfrm>
          <a:prstGeom prst="ellipse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2514600"/>
            <a:ext cx="2487168" cy="5394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支持真实业务化财务数据输入与解析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709160" y="3163824"/>
            <a:ext cx="73152" cy="73152"/>
          </a:xfrm>
          <a:prstGeom prst="ellipse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3081528"/>
            <a:ext cx="2487168" cy="5394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LangGraph 编排审计分析流程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709160" y="3730752"/>
            <a:ext cx="73152" cy="73152"/>
          </a:xfrm>
          <a:prstGeom prst="ellipse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3648456"/>
            <a:ext cx="2487168" cy="5394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 Markdown/DOCX 报告并触发自动化复核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8275320" y="1828800"/>
            <a:ext cx="324612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8890">
            <a:solidFill>
              <a:srgbClr val="CED7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22208" y="2057400"/>
            <a:ext cx="2560320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答辩价值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549640" y="2596896"/>
            <a:ext cx="73152" cy="7315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14232" y="2514600"/>
            <a:ext cx="2532888" cy="5394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覆盖全流程项目要求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549640" y="3163824"/>
            <a:ext cx="73152" cy="7315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14232" y="3081528"/>
            <a:ext cx="2532888" cy="5394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可现场演示，链路闭环清晰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8549640" y="3730752"/>
            <a:ext cx="73152" cy="7315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14232" y="3648456"/>
            <a:ext cx="2532888" cy="53949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技术点能对应评分表：LangGraph/RAG/Agent/N8N/LoRA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94360" y="5440680"/>
            <a:ext cx="2011680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8890">
            <a:solidFill>
              <a:srgbClr val="D8E2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5586984"/>
            <a:ext cx="1682496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9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闭环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58952" y="5897880"/>
            <a:ext cx="1682496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全流程项目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758952" y="6117336"/>
            <a:ext cx="1682496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数据标注 → 训练 → 应用 → 自动化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2880360" y="5440680"/>
            <a:ext cx="2011680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8890">
            <a:solidFill>
              <a:srgbClr val="D8E2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44952" y="5586984"/>
            <a:ext cx="1682496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6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N8N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044952" y="5897880"/>
            <a:ext cx="1682496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智能体编排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3044952" y="6117336"/>
            <a:ext cx="1682496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邮件复核工作流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5166360" y="5440680"/>
            <a:ext cx="2011680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8890">
            <a:solidFill>
              <a:srgbClr val="D8E2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30952" y="5586984"/>
            <a:ext cx="1682496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LoRA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330952" y="5897880"/>
            <a:ext cx="1682496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模型训练/微调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5330952" y="6117336"/>
            <a:ext cx="1682496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adapter 产物证据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7452360" y="5440680"/>
            <a:ext cx="2011680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8890">
            <a:solidFill>
              <a:srgbClr val="D8E2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16952" y="5586984"/>
            <a:ext cx="1682496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241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7616952" y="5897880"/>
            <a:ext cx="1682496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多智能体框架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7616952" y="6117336"/>
            <a:ext cx="1682496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风险分析 + 协商节点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502920" y="6473952"/>
            <a:ext cx="7498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A87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FinAudit-Graph | 全流程智能财务审计与复核系统</a:t>
            </a:r>
            <a:endParaRPr lang="en-US" sz="680" dirty="0"/>
          </a:p>
        </p:txBody>
      </p:sp>
      <p:sp>
        <p:nvSpPr>
          <p:cNvPr id="47" name="Text 45"/>
          <p:cNvSpPr/>
          <p:nvPr/>
        </p:nvSpPr>
        <p:spPr>
          <a:xfrm>
            <a:off x="11173968" y="636422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2920" y="6355080"/>
            <a:ext cx="11064240" cy="0"/>
          </a:xfrm>
          <a:prstGeom prst="line">
            <a:avLst/>
          </a:prstGeom>
          <a:noFill/>
          <a:ln w="6350">
            <a:solidFill>
              <a:srgbClr val="CED7E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9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FLOW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证据链覆盖数据标注、模型微调、应用开发和 N8N 自动化。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全流程项目总览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1737360" cy="22402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8890">
            <a:solidFill>
              <a:srgbClr val="0E9F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07008" y="2148840"/>
            <a:ext cx="502920" cy="502920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44168" y="2286000"/>
            <a:ext cx="228600" cy="1188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8952" y="2816352"/>
            <a:ext cx="1408176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Label Studio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" y="3246120"/>
            <a:ext cx="1444752" cy="5029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80条审计风险样本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结构化字段标注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2368296" y="3035808"/>
            <a:ext cx="347472" cy="0"/>
          </a:xfrm>
          <a:prstGeom prst="line">
            <a:avLst/>
          </a:prstGeom>
          <a:noFill/>
          <a:ln w="22860">
            <a:solidFill>
              <a:srgbClr val="64717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34640" y="1920240"/>
            <a:ext cx="1737360" cy="22402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8890">
            <a:solidFill>
              <a:srgbClr val="1E6B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7288" y="2148840"/>
            <a:ext cx="502920" cy="502920"/>
          </a:xfrm>
          <a:prstGeom prst="ellipse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84448" y="2286000"/>
            <a:ext cx="228600" cy="1188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99232" y="2816352"/>
            <a:ext cx="1408176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LLaMA Factory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80944" y="3246120"/>
            <a:ext cx="1444752" cy="5029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Qwen2.5-1.5B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LoRA 微调产物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4608576" y="3035808"/>
            <a:ext cx="347472" cy="0"/>
          </a:xfrm>
          <a:prstGeom prst="line">
            <a:avLst/>
          </a:prstGeom>
          <a:noFill/>
          <a:ln w="22860">
            <a:solidFill>
              <a:srgbClr val="64717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74920" y="1920240"/>
            <a:ext cx="1737360" cy="22402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87568" y="214884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24728" y="2286000"/>
            <a:ext cx="228600" cy="1188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39512" y="2816352"/>
            <a:ext cx="1408176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LangGraph App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221224" y="3246120"/>
            <a:ext cx="1444752" cy="5029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FastAPI + Streamlit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RAG/图谱/协商分析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6848856" y="3035808"/>
            <a:ext cx="347472" cy="0"/>
          </a:xfrm>
          <a:prstGeom prst="line">
            <a:avLst/>
          </a:prstGeom>
          <a:noFill/>
          <a:ln w="22860">
            <a:solidFill>
              <a:srgbClr val="64717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15200" y="1920240"/>
            <a:ext cx="1737360" cy="22402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27848" y="2148840"/>
            <a:ext cx="502920" cy="5029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5008" y="2286000"/>
            <a:ext cx="228600" cy="1188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79792" y="2816352"/>
            <a:ext cx="1408176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Report Output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61504" y="3246120"/>
            <a:ext cx="1444752" cy="5029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Markdown/DOCX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风险与建议输出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9089136" y="3035808"/>
            <a:ext cx="347472" cy="0"/>
          </a:xfrm>
          <a:prstGeom prst="line">
            <a:avLst/>
          </a:prstGeom>
          <a:noFill/>
          <a:ln w="22860">
            <a:solidFill>
              <a:srgbClr val="64717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55480" y="1920240"/>
            <a:ext cx="1737360" cy="22402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68128" y="21488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05288" y="2286000"/>
            <a:ext cx="228600" cy="1188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720072" y="2816352"/>
            <a:ext cx="1408176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N8N Review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701784" y="3246120"/>
            <a:ext cx="1444752" cy="5029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邮件通知</a:t>
            </a:r>
            <a:endParaRPr lang="en-US" sz="830" dirty="0"/>
          </a:p>
          <a:p>
            <a:pPr marL="0" indent="0" algn="ctr">
              <a:buNone/>
            </a:pPr>
            <a:r>
              <a:rPr lang="en-US" sz="83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review_task_id 闭环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932688" y="4800600"/>
            <a:ext cx="10241280" cy="658368"/>
          </a:xfrm>
          <a:prstGeom prst="roundRect">
            <a:avLst>
              <a:gd name="adj" fmla="val 6944"/>
            </a:avLst>
          </a:prstGeom>
          <a:solidFill>
            <a:srgbClr val="EDF7F2"/>
          </a:solidFill>
          <a:ln w="8890">
            <a:solidFill>
              <a:srgbClr val="B7E0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4965192"/>
            <a:ext cx="978408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532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答辩表达：本项目不是只展示应用界面，而是从数据生产、模型实验、审计应用到自动化复核通知都有可追溯文件和可运行功能。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7498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A87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FinAudit-Graph | 全流程智能财务审计与复核系统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11173968" y="636422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6355080"/>
            <a:ext cx="11064240" cy="0"/>
          </a:xfrm>
          <a:prstGeom prst="line">
            <a:avLst/>
          </a:prstGeom>
          <a:noFill/>
          <a:ln w="6350">
            <a:solidFill>
              <a:srgbClr val="CED7E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9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系统采用前端演示、API 服务、智能审计编排和自动化输出的分层架构。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技术架构图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13232" y="1737360"/>
            <a:ext cx="10789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8890">
            <a:solidFill>
              <a:srgbClr val="0E9F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92808"/>
            <a:ext cx="20574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0E9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用户/答辩演示层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3200400" y="1847088"/>
            <a:ext cx="7818120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Streamlit 演示前端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上传财务材料、查看风险、下载报告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713232" y="2743200"/>
            <a:ext cx="10789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8890">
            <a:solidFill>
              <a:srgbClr val="1E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898648"/>
            <a:ext cx="20574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1E6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服务接口层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3200400" y="2852928"/>
            <a:ext cx="7818120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FastAPI / OpenAPI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审计任务入口、自动化 webhook payload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713232" y="3749040"/>
            <a:ext cx="10789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04488"/>
            <a:ext cx="20574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智能审计层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3200400" y="3858768"/>
            <a:ext cx="7818120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LangGraph 工作流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安全检查、解析、RAG/图谱、多智能体协商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713232" y="4754880"/>
            <a:ext cx="10789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910328"/>
            <a:ext cx="205740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C241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数据与输出层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3200400" y="4864608"/>
            <a:ext cx="7818120" cy="32918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Excel/JSON/Chroma/Neo4j fallback</a:t>
            </a:r>
            <a:endParaRPr lang="en-US" sz="880" dirty="0"/>
          </a:p>
          <a:p>
            <a:pPr marL="0" indent="0" algn="l">
              <a:buNone/>
            </a:pPr>
            <a:r>
              <a:rPr lang="en-US" sz="88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Markdown/DOCX 报告、N8N 邮件复核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989320" y="2450592"/>
            <a:ext cx="0" cy="256032"/>
          </a:xfrm>
          <a:prstGeom prst="line">
            <a:avLst/>
          </a:prstGeom>
          <a:noFill/>
          <a:ln w="22860">
            <a:solidFill>
              <a:srgbClr val="64717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989320" y="3456432"/>
            <a:ext cx="0" cy="256032"/>
          </a:xfrm>
          <a:prstGeom prst="line">
            <a:avLst/>
          </a:prstGeom>
          <a:noFill/>
          <a:ln w="22860">
            <a:solidFill>
              <a:srgbClr val="64717F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989320" y="4462272"/>
            <a:ext cx="0" cy="256032"/>
          </a:xfrm>
          <a:prstGeom prst="line">
            <a:avLst/>
          </a:prstGeom>
          <a:noFill/>
          <a:ln w="22860">
            <a:solidFill>
              <a:srgbClr val="64717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143000" y="5806440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1E6BFF"/>
          </a:solidFill>
          <a:ln w="8890">
            <a:solidFill>
              <a:srgbClr val="1E6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16152" y="5852160"/>
            <a:ext cx="1819656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RAG: 审计准则检索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3429000" y="5806440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0E9F6E"/>
          </a:solidFill>
          <a:ln w="8890">
            <a:solidFill>
              <a:srgbClr val="0E9F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02152" y="5852160"/>
            <a:ext cx="1819656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图谱: 关联方线索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5715000" y="5806440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88152" y="5852160"/>
            <a:ext cx="1819656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Agent: 风险协商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8001000" y="5806440"/>
            <a:ext cx="1965960" cy="292608"/>
          </a:xfrm>
          <a:prstGeom prst="roundRect">
            <a:avLst>
              <a:gd name="adj" fmla="val 25000"/>
            </a:avLst>
          </a:prstGeom>
          <a:solidFill>
            <a:srgbClr val="C2410C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74152" y="5852160"/>
            <a:ext cx="1819656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N8N: 邮件复核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7498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A87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FinAudit-Graph | 全流程智能财务审计与复核系统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1173968" y="636422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6355080"/>
            <a:ext cx="11064240" cy="0"/>
          </a:xfrm>
          <a:prstGeom prst="line">
            <a:avLst/>
          </a:prstGeom>
          <a:noFill/>
          <a:ln w="6350">
            <a:solidFill>
              <a:srgbClr val="CED7E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9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TRAINING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80条标注样本和 LoRA 产物让模型训练环节可被答辩验证。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数据标注与模型训练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755648"/>
            <a:ext cx="534924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8890">
            <a:solidFill>
              <a:srgbClr val="CED7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38528"/>
            <a:ext cx="256032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Label Studio 标注证据</a:t>
            </a:r>
            <a:endParaRPr lang="en-US" sz="1250" dirty="0"/>
          </a:p>
        </p:txBody>
      </p:sp>
      <p:pic>
        <p:nvPicPr>
          <p:cNvPr id="8" name="Image 0" descr="D:\LLM\FinAudit-Graph\archive\labelstudio_exports\labeling_screensh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286000"/>
            <a:ext cx="4846320" cy="2240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4590288"/>
            <a:ext cx="484632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标注字段：风险类型、关键财务指标、异常表现、涉案金额、管理层说明</a:t>
            </a:r>
            <a:endParaRPr lang="en-US" sz="780" dirty="0"/>
          </a:p>
        </p:txBody>
      </p:sp>
      <p:sp>
        <p:nvSpPr>
          <p:cNvPr id="10" name="Shape 7"/>
          <p:cNvSpPr/>
          <p:nvPr/>
        </p:nvSpPr>
        <p:spPr>
          <a:xfrm>
            <a:off x="6309360" y="1755648"/>
            <a:ext cx="498348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8890">
            <a:solidFill>
              <a:srgbClr val="CED7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56248" y="1938528"/>
            <a:ext cx="256032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LoRA 微调证据</a:t>
            </a:r>
            <a:endParaRPr lang="en-US" sz="1250" dirty="0"/>
          </a:p>
        </p:txBody>
      </p:sp>
      <p:pic>
        <p:nvPicPr>
          <p:cNvPr id="12" name="Image 1" descr="D:\LLM\FinAudit-Graph\archive\legacy_lora_export\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286000"/>
            <a:ext cx="2560320" cy="19659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281160" y="2414016"/>
            <a:ext cx="73152" cy="73152"/>
          </a:xfrm>
          <a:prstGeom prst="ellipse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445752" y="2331720"/>
            <a:ext cx="1527048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训练工具：LLaMA Factory</a:t>
            </a:r>
            <a:endParaRPr lang="en-US" sz="840" dirty="0"/>
          </a:p>
        </p:txBody>
      </p:sp>
      <p:sp>
        <p:nvSpPr>
          <p:cNvPr id="15" name="Shape 11"/>
          <p:cNvSpPr/>
          <p:nvPr/>
        </p:nvSpPr>
        <p:spPr>
          <a:xfrm>
            <a:off x="9281160" y="2825496"/>
            <a:ext cx="73152" cy="73152"/>
          </a:xfrm>
          <a:prstGeom prst="ellipse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445752" y="2743200"/>
            <a:ext cx="1527048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基座模型：Qwen2.5-1.5B-Instruct</a:t>
            </a:r>
            <a:endParaRPr lang="en-US" sz="840" dirty="0"/>
          </a:p>
        </p:txBody>
      </p:sp>
      <p:sp>
        <p:nvSpPr>
          <p:cNvPr id="17" name="Shape 13"/>
          <p:cNvSpPr/>
          <p:nvPr/>
        </p:nvSpPr>
        <p:spPr>
          <a:xfrm>
            <a:off x="9281160" y="3236976"/>
            <a:ext cx="73152" cy="73152"/>
          </a:xfrm>
          <a:prstGeom prst="ellipse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445752" y="3154680"/>
            <a:ext cx="1527048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方法：LoRA adapter</a:t>
            </a:r>
            <a:endParaRPr lang="en-US" sz="840" dirty="0"/>
          </a:p>
        </p:txBody>
      </p:sp>
      <p:sp>
        <p:nvSpPr>
          <p:cNvPr id="19" name="Shape 15"/>
          <p:cNvSpPr/>
          <p:nvPr/>
        </p:nvSpPr>
        <p:spPr>
          <a:xfrm>
            <a:off x="9281160" y="3648456"/>
            <a:ext cx="73152" cy="73152"/>
          </a:xfrm>
          <a:prstGeom prst="ellipse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445752" y="3566160"/>
            <a:ext cx="1527048" cy="38404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定位：低配置可复现实验与风险助手增强</a:t>
            </a:r>
            <a:endParaRPr lang="en-US" sz="840" dirty="0"/>
          </a:p>
        </p:txBody>
      </p:sp>
      <p:sp>
        <p:nvSpPr>
          <p:cNvPr id="21" name="Shape 17"/>
          <p:cNvSpPr/>
          <p:nvPr/>
        </p:nvSpPr>
        <p:spPr>
          <a:xfrm>
            <a:off x="1097280" y="5321808"/>
            <a:ext cx="1828800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8890">
            <a:solidFill>
              <a:srgbClr val="D8E2E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261872" y="5468112"/>
            <a:ext cx="1499616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9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数据标注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261872" y="5779008"/>
            <a:ext cx="1499616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训练样本</a:t>
            </a:r>
            <a:endParaRPr lang="en-US" sz="880" dirty="0"/>
          </a:p>
        </p:txBody>
      </p:sp>
      <p:sp>
        <p:nvSpPr>
          <p:cNvPr id="24" name="Text 20"/>
          <p:cNvSpPr/>
          <p:nvPr/>
        </p:nvSpPr>
        <p:spPr>
          <a:xfrm>
            <a:off x="1261872" y="5998464"/>
            <a:ext cx="1499616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来自 Label Studio 标注</a:t>
            </a:r>
            <a:endParaRPr lang="en-US" sz="720" dirty="0"/>
          </a:p>
        </p:txBody>
      </p:sp>
      <p:sp>
        <p:nvSpPr>
          <p:cNvPr id="25" name="Shape 21"/>
          <p:cNvSpPr/>
          <p:nvPr/>
        </p:nvSpPr>
        <p:spPr>
          <a:xfrm>
            <a:off x="3246120" y="5321808"/>
            <a:ext cx="1828800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8890">
            <a:solidFill>
              <a:srgbClr val="D8E2E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10712" y="5468112"/>
            <a:ext cx="1499616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6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Qwen2.5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3410712" y="5779008"/>
            <a:ext cx="1499616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基座模型</a:t>
            </a:r>
            <a:endParaRPr lang="en-US" sz="880" dirty="0"/>
          </a:p>
        </p:txBody>
      </p:sp>
      <p:sp>
        <p:nvSpPr>
          <p:cNvPr id="28" name="Text 24"/>
          <p:cNvSpPr/>
          <p:nvPr/>
        </p:nvSpPr>
        <p:spPr>
          <a:xfrm>
            <a:off x="3410712" y="5998464"/>
            <a:ext cx="1499616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1.5B-Instruct</a:t>
            </a:r>
            <a:endParaRPr lang="en-US" sz="720" dirty="0"/>
          </a:p>
        </p:txBody>
      </p:sp>
      <p:sp>
        <p:nvSpPr>
          <p:cNvPr id="29" name="Shape 25"/>
          <p:cNvSpPr/>
          <p:nvPr/>
        </p:nvSpPr>
        <p:spPr>
          <a:xfrm>
            <a:off x="5394960" y="5321808"/>
            <a:ext cx="2057400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8890">
            <a:solidFill>
              <a:srgbClr val="D8E2E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559552" y="5468112"/>
            <a:ext cx="1728216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LoRA</a:t>
            </a:r>
            <a:endParaRPr lang="en-US" sz="2000" dirty="0"/>
          </a:p>
        </p:txBody>
      </p:sp>
      <p:sp>
        <p:nvSpPr>
          <p:cNvPr id="31" name="Text 27"/>
          <p:cNvSpPr/>
          <p:nvPr/>
        </p:nvSpPr>
        <p:spPr>
          <a:xfrm>
            <a:off x="5559552" y="5779008"/>
            <a:ext cx="1728216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适配器产物</a:t>
            </a:r>
            <a:endParaRPr lang="en-US" sz="880" dirty="0"/>
          </a:p>
        </p:txBody>
      </p:sp>
      <p:sp>
        <p:nvSpPr>
          <p:cNvPr id="32" name="Text 28"/>
          <p:cNvSpPr/>
          <p:nvPr/>
        </p:nvSpPr>
        <p:spPr>
          <a:xfrm>
            <a:off x="5559552" y="5998464"/>
            <a:ext cx="1728216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adapter_model.safetensors</a:t>
            </a:r>
            <a:endParaRPr lang="en-US" sz="720" dirty="0"/>
          </a:p>
        </p:txBody>
      </p:sp>
      <p:sp>
        <p:nvSpPr>
          <p:cNvPr id="33" name="Shape 29"/>
          <p:cNvSpPr/>
          <p:nvPr/>
        </p:nvSpPr>
        <p:spPr>
          <a:xfrm>
            <a:off x="7772400" y="5321808"/>
            <a:ext cx="2057400" cy="969264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8890">
            <a:solidFill>
              <a:srgbClr val="D8E2E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936992" y="5468112"/>
            <a:ext cx="1728216" cy="2743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241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3060</a:t>
            </a:r>
            <a:endParaRPr lang="en-US" sz="2000" dirty="0"/>
          </a:p>
        </p:txBody>
      </p:sp>
      <p:sp>
        <p:nvSpPr>
          <p:cNvPr id="35" name="Text 31"/>
          <p:cNvSpPr/>
          <p:nvPr/>
        </p:nvSpPr>
        <p:spPr>
          <a:xfrm>
            <a:off x="7936992" y="5779008"/>
            <a:ext cx="1728216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可解释策略</a:t>
            </a:r>
            <a:endParaRPr lang="en-US" sz="880" dirty="0"/>
          </a:p>
        </p:txBody>
      </p:sp>
      <p:sp>
        <p:nvSpPr>
          <p:cNvPr id="36" name="Text 32"/>
          <p:cNvSpPr/>
          <p:nvPr/>
        </p:nvSpPr>
        <p:spPr>
          <a:xfrm>
            <a:off x="7936992" y="5998464"/>
            <a:ext cx="1728216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轻量微调/推理优先</a:t>
            </a:r>
            <a:endParaRPr lang="en-US" sz="720" dirty="0"/>
          </a:p>
        </p:txBody>
      </p:sp>
      <p:sp>
        <p:nvSpPr>
          <p:cNvPr id="37" name="Text 33"/>
          <p:cNvSpPr/>
          <p:nvPr/>
        </p:nvSpPr>
        <p:spPr>
          <a:xfrm>
            <a:off x="502920" y="6473952"/>
            <a:ext cx="7498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A87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FinAudit-Graph | 全流程智能财务审计与复核系统</a:t>
            </a:r>
            <a:endParaRPr lang="en-US" sz="680" dirty="0"/>
          </a:p>
        </p:txBody>
      </p:sp>
      <p:sp>
        <p:nvSpPr>
          <p:cNvPr id="38" name="Text 34"/>
          <p:cNvSpPr/>
          <p:nvPr/>
        </p:nvSpPr>
        <p:spPr>
          <a:xfrm>
            <a:off x="11173968" y="636422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502920" y="6355080"/>
            <a:ext cx="11064240" cy="0"/>
          </a:xfrm>
          <a:prstGeom prst="line">
            <a:avLst/>
          </a:prstGeom>
          <a:noFill/>
          <a:ln w="6350">
            <a:solidFill>
              <a:srgbClr val="CED7E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9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核心演示从真实业务化 Excel 输入开始，系统自动解析指标并识别风险。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核心功能演示 1：材料输入与风险识别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22402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8890">
            <a:solidFill>
              <a:srgbClr val="1E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65960"/>
            <a:ext cx="45720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6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331720"/>
            <a:ext cx="1737360" cy="2377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财务材料输入</a:t>
            </a:r>
            <a:endParaRPr lang="en-US" sz="1230" dirty="0"/>
          </a:p>
        </p:txBody>
      </p:sp>
      <p:sp>
        <p:nvSpPr>
          <p:cNvPr id="9" name="Text 7"/>
          <p:cNvSpPr/>
          <p:nvPr/>
        </p:nvSpPr>
        <p:spPr>
          <a:xfrm>
            <a:off x="841248" y="2816352"/>
            <a:ext cx="1856232" cy="5486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上传业务化 Excel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含收入、成本、往来、关联方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99232" y="2898648"/>
            <a:ext cx="384048" cy="0"/>
          </a:xfrm>
          <a:prstGeom prst="line">
            <a:avLst/>
          </a:prstGeom>
          <a:noFill/>
          <a:ln w="22860">
            <a:solidFill>
              <a:srgbClr val="64717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74720" y="1828800"/>
            <a:ext cx="22402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8890">
            <a:solidFill>
              <a:srgbClr val="1E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1965960"/>
            <a:ext cx="45720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6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30168" y="2331720"/>
            <a:ext cx="1737360" cy="2377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安全检查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3630168" y="2816352"/>
            <a:ext cx="1856232" cy="5486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检测文件类型、大小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规避异常输入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88152" y="2898648"/>
            <a:ext cx="384048" cy="0"/>
          </a:xfrm>
          <a:prstGeom prst="line">
            <a:avLst/>
          </a:prstGeom>
          <a:noFill/>
          <a:ln w="22860">
            <a:solidFill>
              <a:srgbClr val="64717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63640" y="1828800"/>
            <a:ext cx="22402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8890">
            <a:solidFill>
              <a:srgbClr val="1E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1965960"/>
            <a:ext cx="45720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6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19088" y="2331720"/>
            <a:ext cx="1737360" cy="2377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材料解析</a:t>
            </a:r>
            <a:endParaRPr lang="en-US" sz="1230" dirty="0"/>
          </a:p>
        </p:txBody>
      </p:sp>
      <p:sp>
        <p:nvSpPr>
          <p:cNvPr id="19" name="Text 17"/>
          <p:cNvSpPr/>
          <p:nvPr/>
        </p:nvSpPr>
        <p:spPr>
          <a:xfrm>
            <a:off x="6419088" y="2816352"/>
            <a:ext cx="1856232" cy="5486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提取财务指标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归一化审计字段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577072" y="2898648"/>
            <a:ext cx="384048" cy="0"/>
          </a:xfrm>
          <a:prstGeom prst="line">
            <a:avLst/>
          </a:prstGeom>
          <a:noFill/>
          <a:ln w="22860">
            <a:solidFill>
              <a:srgbClr val="64717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52560" y="1828800"/>
            <a:ext cx="22402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08008" y="1965960"/>
            <a:ext cx="457200" cy="20116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241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08008" y="2331720"/>
            <a:ext cx="1737360" cy="23774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风险识别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9208008" y="2816352"/>
            <a:ext cx="1856232" cy="54864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 + RAG + 图谱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识别高风险线索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0120" y="4736592"/>
            <a:ext cx="10241280" cy="896112"/>
          </a:xfrm>
          <a:prstGeom prst="roundRect">
            <a:avLst>
              <a:gd name="adj" fmla="val 5102"/>
            </a:avLst>
          </a:prstGeom>
          <a:solidFill>
            <a:srgbClr val="FFF7ED"/>
          </a:solidFill>
          <a:ln w="8890">
            <a:solidFill>
              <a:srgbClr val="FDBA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0432" y="4882896"/>
            <a:ext cx="1325880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9A34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演示启动命令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2633472" y="4864608"/>
            <a:ext cx="7863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2D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-m uvicorn finaudit_graph.interfaces.api:app --reload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33472" y="5230368"/>
            <a:ext cx="786384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7C2D1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-m streamlit run src/finaudit_graph/interfaces/streamlit_app.py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7498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A87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FinAudit-Graph | 全流程智能财务审计与复核系统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1173968" y="636422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6355080"/>
            <a:ext cx="11064240" cy="0"/>
          </a:xfrm>
          <a:prstGeom prst="line">
            <a:avLst/>
          </a:prstGeom>
          <a:noFill/>
          <a:ln w="6350">
            <a:solidFill>
              <a:srgbClr val="CED7E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9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高风险结果会进入报告输出与 N8N 邮件复核闭环。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核心功能演示 2：报告输出与自动化复核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297180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8890">
            <a:solidFill>
              <a:srgbClr val="1E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84832"/>
            <a:ext cx="219456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6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审计报告输出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41832" y="2688336"/>
            <a:ext cx="73152" cy="73152"/>
          </a:xfrm>
          <a:prstGeom prst="ellipse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6424" y="2606040"/>
            <a:ext cx="2121408" cy="4114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Markdown 报告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941832" y="3127248"/>
            <a:ext cx="73152" cy="73152"/>
          </a:xfrm>
          <a:prstGeom prst="ellipse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3044952"/>
            <a:ext cx="2121408" cy="4114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DOCX 报告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941832" y="3566160"/>
            <a:ext cx="73152" cy="73152"/>
          </a:xfrm>
          <a:prstGeom prst="ellipse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3483864"/>
            <a:ext cx="2121408" cy="4114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风险清单与审计建议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941832" y="4005072"/>
            <a:ext cx="73152" cy="73152"/>
          </a:xfrm>
          <a:prstGeom prst="ellipse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424" y="3922776"/>
            <a:ext cx="2121408" cy="4114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报告中不出现“自动化报告”表述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4599432" y="1874520"/>
            <a:ext cx="297180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2084832"/>
            <a:ext cx="219456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241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N8N 复核触发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55464" y="2688336"/>
            <a:ext cx="73152" cy="7315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2606040"/>
            <a:ext cx="2121408" cy="4114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 /webhook/finaudit-review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855464" y="3127248"/>
            <a:ext cx="73152" cy="7315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0056" y="3044952"/>
            <a:ext cx="2121408" cy="4114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 high_risk_count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4855464" y="3566160"/>
            <a:ext cx="73152" cy="7315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0056" y="3483864"/>
            <a:ext cx="2121408" cy="4114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 review_task_id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4855464" y="4005072"/>
            <a:ext cx="73152" cy="7315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0056" y="3922776"/>
            <a:ext cx="2121408" cy="4114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发送复核邮件到指定邮箱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8503920" y="1874520"/>
            <a:ext cx="2743200" cy="28346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8890">
            <a:solidFill>
              <a:srgbClr val="0E9F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32520" y="2084832"/>
            <a:ext cx="201168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9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前端状态回显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759952" y="2688336"/>
            <a:ext cx="73152" cy="7315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4544" y="2606040"/>
            <a:ext cx="1847088" cy="4114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review_status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8759952" y="3127248"/>
            <a:ext cx="73152" cy="7315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24544" y="3044952"/>
            <a:ext cx="1847088" cy="4114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review_priority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8759952" y="3566160"/>
            <a:ext cx="73152" cy="7315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24544" y="3483864"/>
            <a:ext cx="1847088" cy="4114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review_task_id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8759952" y="4005072"/>
            <a:ext cx="73152" cy="7315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24544" y="3922776"/>
            <a:ext cx="1847088" cy="4114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通知是否成功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3703320" y="3291840"/>
            <a:ext cx="822960" cy="0"/>
          </a:xfrm>
          <a:prstGeom prst="line">
            <a:avLst/>
          </a:prstGeom>
          <a:noFill/>
          <a:ln w="22860">
            <a:solidFill>
              <a:srgbClr val="64717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635240" y="3291840"/>
            <a:ext cx="795528" cy="0"/>
          </a:xfrm>
          <a:prstGeom prst="line">
            <a:avLst/>
          </a:prstGeom>
          <a:noFill/>
          <a:ln w="22860">
            <a:solidFill>
              <a:srgbClr val="64717F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143000" y="5230368"/>
            <a:ext cx="9784080" cy="438912"/>
          </a:xfrm>
          <a:prstGeom prst="roundRect">
            <a:avLst>
              <a:gd name="adj" fmla="val 10417"/>
            </a:avLst>
          </a:prstGeom>
          <a:solidFill>
            <a:srgbClr val="EFF6FF"/>
          </a:solidFill>
          <a:ln w="889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25880" y="5358384"/>
            <a:ext cx="9372600" cy="12801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E3A8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答辩重点：N8N 不是孤立加分项，而是接在审计结果之后，把“发现高风险”转成“通知复核人”的业务动作。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7498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A87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FinAudit-Graph | 全流程智能财务审计与复核系统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11173968" y="636422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6355080"/>
            <a:ext cx="11064240" cy="0"/>
          </a:xfrm>
          <a:prstGeom prst="line">
            <a:avLst/>
          </a:prstGeom>
          <a:noFill/>
          <a:ln w="6350">
            <a:solidFill>
              <a:srgbClr val="CED7E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9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HIGHLIGHTS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技术亮点不是堆技术名词，而是围绕审计闭环解决真实问题。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技术亮点与创新点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47091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8890">
            <a:solidFill>
              <a:srgbClr val="1E6B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783080"/>
            <a:ext cx="91440" cy="932688"/>
          </a:xfrm>
          <a:prstGeom prst="rect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1947672"/>
            <a:ext cx="201168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6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LangGraph 审计流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87552" y="2221992"/>
            <a:ext cx="4160520" cy="24688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将安全检查、解析、检索、风险协商、报告生成拆成可控节点。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47091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8890">
            <a:solidFill>
              <a:srgbClr val="0E9F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783080"/>
            <a:ext cx="91440" cy="932688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947672"/>
            <a:ext cx="201168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E9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+ 图谱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28232" y="2221992"/>
            <a:ext cx="4160520" cy="24688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用审计准则检索和关联方线索补强模型判断，降低纯 LLM 幻觉风险。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731520" y="3081528"/>
            <a:ext cx="47091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081528"/>
            <a:ext cx="91440" cy="9326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3246120"/>
            <a:ext cx="201168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 + 模型融合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87552" y="3520440"/>
            <a:ext cx="4160520" cy="24688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财务指标异常先由规则兜底，再由模型给解释和建议。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172200" y="3081528"/>
            <a:ext cx="47091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8890">
            <a:solidFill>
              <a:srgbClr val="C2410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081528"/>
            <a:ext cx="91440" cy="9326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246120"/>
            <a:ext cx="201168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C241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N8N 自动化闭环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28232" y="3520440"/>
            <a:ext cx="4160520" cy="24688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高风险事项自动流转为复核邮件与任务编号，体现业务落地。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731520" y="4379976"/>
            <a:ext cx="47091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379976"/>
            <a:ext cx="91440" cy="9326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4544568"/>
            <a:ext cx="201168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LoRA 微调证据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87552" y="4818888"/>
            <a:ext cx="4160520" cy="24688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保留训练产物和实验路径，展示模型训练能力。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172200" y="4379976"/>
            <a:ext cx="470916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4379976"/>
            <a:ext cx="91440" cy="9326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4544568"/>
            <a:ext cx="2011680" cy="1828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真实业务化数据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28232" y="4818888"/>
            <a:ext cx="4160520" cy="246888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从小 Excel 测试升级为更接近财务场景的数据集。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7498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A87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FinAudit-Graph | 全流程智能财务审计与复核系统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11173968" y="636422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6355080"/>
            <a:ext cx="11064240" cy="0"/>
          </a:xfrm>
          <a:prstGeom prst="line">
            <a:avLst/>
          </a:prstGeom>
          <a:noFill/>
          <a:ln w="6350">
            <a:solidFill>
              <a:srgbClr val="CED7E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9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个人贡献覆盖数据、模型、应用、自动化和测试五个环节。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个人贡献与收获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755648"/>
            <a:ext cx="109728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贡献环节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148840" y="1755648"/>
            <a:ext cx="365760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具体工作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452360" y="1755648"/>
            <a:ext cx="2560320" cy="219456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能力收获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1984248"/>
            <a:ext cx="10789920" cy="0"/>
          </a:xfrm>
          <a:prstGeom prst="line">
            <a:avLst/>
          </a:prstGeom>
          <a:noFill/>
          <a:ln w="6350">
            <a:solidFill>
              <a:srgbClr val="CED7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84832"/>
            <a:ext cx="10972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0E9F6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数据标注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2148840" y="2084832"/>
            <a:ext cx="466344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整理 Label Studio 标注字段与导出数据，形成训练样本证据。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52360" y="2084832"/>
            <a:ext cx="347472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可解释的数据来源意识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670048"/>
            <a:ext cx="10789920" cy="0"/>
          </a:xfrm>
          <a:prstGeom prst="line">
            <a:avLst/>
          </a:prstGeom>
          <a:noFill/>
          <a:ln w="6350">
            <a:solidFill>
              <a:srgbClr val="CED7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770632"/>
            <a:ext cx="10972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E6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模型实验</a:t>
            </a:r>
            <a:endParaRPr lang="en-US" sz="1030" dirty="0"/>
          </a:p>
        </p:txBody>
      </p:sp>
      <p:sp>
        <p:nvSpPr>
          <p:cNvPr id="15" name="Text 13"/>
          <p:cNvSpPr/>
          <p:nvPr/>
        </p:nvSpPr>
        <p:spPr>
          <a:xfrm>
            <a:off x="2148840" y="2770632"/>
            <a:ext cx="466344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完成 LoRA adapter 产物整理，明确低配置训练/展示定位。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52360" y="2770632"/>
            <a:ext cx="347472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掌握微调流程与资源取舍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355848"/>
            <a:ext cx="10789920" cy="0"/>
          </a:xfrm>
          <a:prstGeom prst="line">
            <a:avLst/>
          </a:prstGeom>
          <a:noFill/>
          <a:ln w="6350">
            <a:solidFill>
              <a:srgbClr val="CED7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56432"/>
            <a:ext cx="10972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D977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应用开发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2148840" y="3456432"/>
            <a:ext cx="466344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 Streamlit/FastAPI/LangGraph 审计链路与报告输出。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452360" y="3456432"/>
            <a:ext cx="347472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从原型走向可演示系统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4041648"/>
            <a:ext cx="10789920" cy="0"/>
          </a:xfrm>
          <a:prstGeom prst="line">
            <a:avLst/>
          </a:prstGeom>
          <a:noFill/>
          <a:ln w="6350">
            <a:solidFill>
              <a:srgbClr val="CED7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142232"/>
            <a:ext cx="10972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C241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自动化集成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2148840" y="4142232"/>
            <a:ext cx="466344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 N8N webhook、邮件通知、复核任务状态回显。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52360" y="4142232"/>
            <a:ext cx="347472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理解业务闭环比单点模型更重要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1520" y="4727448"/>
            <a:ext cx="10789920" cy="0"/>
          </a:xfrm>
          <a:prstGeom prst="line">
            <a:avLst/>
          </a:prstGeom>
          <a:noFill/>
          <a:ln w="6350">
            <a:solidFill>
              <a:srgbClr val="CED7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828032"/>
            <a:ext cx="109728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测试验证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2148840" y="4828032"/>
            <a:ext cx="466344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 API/工作流测试，用真实业务化 Excel 跑通演示。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452360" y="4828032"/>
            <a:ext cx="347472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形成可答辩、可复现的工程习惯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51560" y="5687568"/>
            <a:ext cx="10012680" cy="475488"/>
          </a:xfrm>
          <a:prstGeom prst="roundRect">
            <a:avLst>
              <a:gd name="adj" fmla="val 9615"/>
            </a:avLst>
          </a:prstGeom>
          <a:solidFill>
            <a:srgbClr val="F0FDF4"/>
          </a:solidFill>
          <a:ln w="889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5815584"/>
            <a:ext cx="9601200" cy="146304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6653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总结表达：我最大的收获是把“大模型能力”放进完整业务链路，而不是停留在一次提示词调用。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6473952"/>
            <a:ext cx="7498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A87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FinAudit-Graph | 全流程智能财务审计与复核系统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11173968" y="636422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6355080"/>
            <a:ext cx="11064240" cy="0"/>
          </a:xfrm>
          <a:prstGeom prst="line">
            <a:avLst/>
          </a:prstGeom>
          <a:noFill/>
          <a:ln w="6350">
            <a:solidFill>
              <a:srgbClr val="CED7E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9F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1042416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没有正式视频时，用可运行演示路线替代视频页，确保答辩流畅。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969264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471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演示路线与答辩收束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41248" y="1737360"/>
            <a:ext cx="256032" cy="25603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01368"/>
            <a:ext cx="109728" cy="731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261872" y="1719072"/>
            <a:ext cx="749808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 Label Studio 标注截图与导出 JSON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841248" y="2267712"/>
            <a:ext cx="256032" cy="25603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31720"/>
            <a:ext cx="109728" cy="731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261872" y="2249424"/>
            <a:ext cx="749808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启动 FastAPI 与 Streamlit 演示前端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841248" y="2798064"/>
            <a:ext cx="256032" cy="256032"/>
          </a:xfrm>
          <a:prstGeom prst="ellipse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62072"/>
            <a:ext cx="109728" cy="731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261872" y="2779776"/>
            <a:ext cx="749808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上传 realistic_business_financials.xlsx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841248" y="3328416"/>
            <a:ext cx="256032" cy="256032"/>
          </a:xfrm>
          <a:prstGeom prst="ellipse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92424"/>
            <a:ext cx="109728" cy="731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261872" y="3310128"/>
            <a:ext cx="749808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查看风险识别、报告输出和自动化通知状态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841248" y="3858768"/>
            <a:ext cx="256032" cy="256032"/>
          </a:xfrm>
          <a:prstGeom prst="ellipse">
            <a:avLst/>
          </a:prstGeom>
          <a:solidFill>
            <a:srgbClr val="1E6BFF"/>
          </a:solidFill>
          <a:ln w="12700">
            <a:solidFill>
              <a:srgbClr val="1E6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922776"/>
            <a:ext cx="109728" cy="731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261872" y="3840480"/>
            <a:ext cx="749808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切到 N8N 工作流，展示邮件复核节点与执行记录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841248" y="4389120"/>
            <a:ext cx="256032" cy="256032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453128"/>
            <a:ext cx="109728" cy="7315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261872" y="4370832"/>
            <a:ext cx="7498080" cy="25603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打开邮箱，展示收到的审计复核提醒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9006840" y="1874520"/>
            <a:ext cx="2212848" cy="2267712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8890">
            <a:solidFill>
              <a:srgbClr val="1E6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17152" y="2084832"/>
            <a:ext cx="1645920" cy="22860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6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答辩收束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53728" y="2633472"/>
            <a:ext cx="1627632" cy="86868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全流程达标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技术点完整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演示链路可复现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62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后续可扩展到飞书/工单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06840" y="4434840"/>
            <a:ext cx="2212848" cy="749808"/>
          </a:xfrm>
          <a:prstGeom prst="roundRect">
            <a:avLst>
              <a:gd name="adj" fmla="val 6098"/>
            </a:avLst>
          </a:prstGeom>
          <a:solidFill>
            <a:srgbClr val="FEF2F2"/>
          </a:solidFill>
          <a:ln w="8890">
            <a:solidFill>
              <a:srgbClr val="FCA5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17152" y="4599432"/>
            <a:ext cx="1645920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410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Q&amp;A 准备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71432" y="4828032"/>
            <a:ext cx="1783080" cy="16459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7F1D1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LoRA 定位 / Neo4j fallback / N8N 凭证 / 数据真实性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7498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7A879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FinAudit-Graph | 全流程智能财务审计与复核系统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11173968" y="6364224"/>
            <a:ext cx="502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6355080"/>
            <a:ext cx="11064240" cy="0"/>
          </a:xfrm>
          <a:prstGeom prst="line">
            <a:avLst/>
          </a:prstGeom>
          <a:noFill/>
          <a:ln w="6350">
            <a:solidFill>
              <a:srgbClr val="CED7E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3182</Words>
  <Application>WPS 演示</Application>
  <PresentationFormat>On-screen Show (16:9)</PresentationFormat>
  <Paragraphs>448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宋体</vt:lpstr>
      <vt:lpstr>Wingdings</vt:lpstr>
      <vt:lpstr>Aptos Display</vt:lpstr>
      <vt:lpstr>Segoe UI Variable Display</vt:lpstr>
      <vt:lpstr>Aptos Display</vt:lpstr>
      <vt:lpstr>Aptos Display</vt:lpstr>
      <vt:lpstr>微软雅黑</vt:lpstr>
      <vt:lpstr>微软雅黑</vt:lpstr>
      <vt:lpstr>Aptos</vt:lpstr>
      <vt:lpstr>Aptos</vt:lpstr>
      <vt:lpstr>Aptos</vt:lpstr>
      <vt:lpstr>Segoe UI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FinAudit-Graph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FinAudit-Graph 答辩演示</dc:title>
  <dc:creator>FinAudit-Graph</dc:creator>
  <dc:subject>FinAudit-Graph 全流程智能财务审计与复核系统答辩</dc:subject>
  <cp:lastModifiedBy>WPS_1602149754</cp:lastModifiedBy>
  <cp:revision>2</cp:revision>
  <dcterms:created xsi:type="dcterms:W3CDTF">2026-06-07T07:02:00Z</dcterms:created>
  <dcterms:modified xsi:type="dcterms:W3CDTF">2026-06-07T07:40:03Z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67B55589AE1E4B2EAD4257997B6CA2C5_12</vt:lpwstr>
  </property>
</Properties>
</file>