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eed86b0d114880" /><Relationship Type="http://schemas.openxmlformats.org/officeDocument/2006/relationships/extended-properties" Target="/docProps/app.xml" Id="R5933b693fa1245dd" /><Relationship Type="http://schemas.openxmlformats.org/officeDocument/2006/relationships/officeDocument" Target="/ppt/presentation.xml" Id="Rb2b89b68627744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e8c92a9d141cc"/>
  </p:sldMasterIdLst>
  <p:notesMasterIdLst>
    <p:notesMasterId xmlns:r="http://schemas.openxmlformats.org/officeDocument/2006/relationships" r:id="R168f3ec25aca4131"/>
  </p:notesMasterIdLst>
  <p:sldIdLst>
    <p:sldId xmlns:r="http://schemas.openxmlformats.org/officeDocument/2006/relationships" id="256" r:id="R9366e7f9698d4e78"/>
    <p:sldId xmlns:r="http://schemas.openxmlformats.org/officeDocument/2006/relationships" id="257" r:id="R44a22398c998447f"/>
    <p:sldId xmlns:r="http://schemas.openxmlformats.org/officeDocument/2006/relationships" id="258" r:id="R02460f17085d49ac"/>
    <p:sldId xmlns:r="http://schemas.openxmlformats.org/officeDocument/2006/relationships" id="259" r:id="R519e7b45469f4f4c"/>
    <p:sldId xmlns:r="http://schemas.openxmlformats.org/officeDocument/2006/relationships" id="260" r:id="R02a702be5bda44d1"/>
    <p:sldId xmlns:r="http://schemas.openxmlformats.org/officeDocument/2006/relationships" id="261" r:id="R0d2a804d36eb4fb8"/>
    <p:sldId xmlns:r="http://schemas.openxmlformats.org/officeDocument/2006/relationships" id="262" r:id="Radf6800935064da3"/>
    <p:sldId xmlns:r="http://schemas.openxmlformats.org/officeDocument/2006/relationships" id="263" r:id="R0c18ed4a0a4244d6"/>
    <p:sldId xmlns:r="http://schemas.openxmlformats.org/officeDocument/2006/relationships" id="264" r:id="R19d1bbfad543406d"/>
    <p:sldId xmlns:r="http://schemas.openxmlformats.org/officeDocument/2006/relationships" id="265" r:id="R5498a67211df40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5351ba291b4fce" /><Relationship Type="http://schemas.openxmlformats.org/officeDocument/2006/relationships/slideMaster" Target="/ppt/slideMasters/slideMaster1.xml" Id="R3ace8c92a9d141cc" /><Relationship Type="http://schemas.openxmlformats.org/officeDocument/2006/relationships/notesMaster" Target="/ppt/notesMasters/notesMaster1.xml" Id="R168f3ec25aca4131" /><Relationship Type="http://schemas.openxmlformats.org/officeDocument/2006/relationships/presProps" Target="/ppt/presProps.xml" Id="R4de154a86bf14822" /><Relationship Type="http://schemas.openxmlformats.org/officeDocument/2006/relationships/viewProps" Target="/ppt/viewProps.xml" Id="Rec0dd1d568064295" /><Relationship Type="http://schemas.openxmlformats.org/officeDocument/2006/relationships/tableStyles" Target="/ppt/tableStyles.xml" Id="R48c09d305f844431" /><Relationship Type="http://schemas.openxmlformats.org/officeDocument/2006/relationships/slide" Target="/ppt/slides/slide1.xml" Id="R9366e7f9698d4e78" /><Relationship Type="http://schemas.openxmlformats.org/officeDocument/2006/relationships/slide" Target="/ppt/slides/slide2.xml" Id="R44a22398c998447f" /><Relationship Type="http://schemas.openxmlformats.org/officeDocument/2006/relationships/slide" Target="/ppt/slides/slide3.xml" Id="R02460f17085d49ac" /><Relationship Type="http://schemas.openxmlformats.org/officeDocument/2006/relationships/slide" Target="/ppt/slides/slide4.xml" Id="R519e7b45469f4f4c" /><Relationship Type="http://schemas.openxmlformats.org/officeDocument/2006/relationships/slide" Target="/ppt/slides/slide5.xml" Id="R02a702be5bda44d1" /><Relationship Type="http://schemas.openxmlformats.org/officeDocument/2006/relationships/slide" Target="/ppt/slides/slide6.xml" Id="R0d2a804d36eb4fb8" /><Relationship Type="http://schemas.openxmlformats.org/officeDocument/2006/relationships/slide" Target="/ppt/slides/slide7.xml" Id="Radf6800935064da3" /><Relationship Type="http://schemas.openxmlformats.org/officeDocument/2006/relationships/slide" Target="/ppt/slides/slide8.xml" Id="R0c18ed4a0a4244d6" /><Relationship Type="http://schemas.openxmlformats.org/officeDocument/2006/relationships/slide" Target="/ppt/slides/slide9.xml" Id="R19d1bbfad543406d" /><Relationship Type="http://schemas.openxmlformats.org/officeDocument/2006/relationships/slide" Target="/ppt/slides/slide10.xml" Id="R5498a67211df40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c93a4779f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7d48b15d4464e" /><Relationship Type="http://schemas.openxmlformats.org/officeDocument/2006/relationships/notesMaster" Target="/ppt/notesMasters/notesMaster1.xml" Id="Rc2c19a1e3a43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db063aa6524b0a" /><Relationship Type="http://schemas.openxmlformats.org/officeDocument/2006/relationships/notesMaster" Target="/ppt/notesMasters/notesMaster1.xml" Id="R3d516fc1019846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7fc44a30dd45b0" /><Relationship Type="http://schemas.openxmlformats.org/officeDocument/2006/relationships/notesMaster" Target="/ppt/notesMasters/notesMaster1.xml" Id="R55144288c10d46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4883f2a4e34858" /><Relationship Type="http://schemas.openxmlformats.org/officeDocument/2006/relationships/notesMaster" Target="/ppt/notesMasters/notesMaster1.xml" Id="Rbec32dced780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55bfdfb754208" /><Relationship Type="http://schemas.openxmlformats.org/officeDocument/2006/relationships/notesMaster" Target="/ppt/notesMasters/notesMaster1.xml" Id="Rdb3446dea60043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01a897b66641b4" /><Relationship Type="http://schemas.openxmlformats.org/officeDocument/2006/relationships/notesMaster" Target="/ppt/notesMasters/notesMaster1.xml" Id="R0679eed7393047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42d8777ed43e4" /><Relationship Type="http://schemas.openxmlformats.org/officeDocument/2006/relationships/notesMaster" Target="/ppt/notesMasters/notesMaster1.xml" Id="Rf9b35b1801d842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f6f048adc545ea" /><Relationship Type="http://schemas.openxmlformats.org/officeDocument/2006/relationships/notesMaster" Target="/ppt/notesMasters/notesMaster1.xml" Id="Rae83687955f34a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262ec64a204253" /><Relationship Type="http://schemas.openxmlformats.org/officeDocument/2006/relationships/notesMaster" Target="/ppt/notesMasters/notesMaster1.xml" Id="Rdeb1dcc03cfc42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84ec22a46149a6" /><Relationship Type="http://schemas.openxmlformats.org/officeDocument/2006/relationships/notesMaster" Target="/ppt/notesMasters/notesMaster1.xml" Id="R49897d440159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65e54bfb34d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787aa89d71454d" /><Relationship Type="http://schemas.openxmlformats.org/officeDocument/2006/relationships/slideLayout" Target="/ppt/slideLayouts/slideLayout1.xml" Id="R94a2bcb352d44e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2bcb352d44e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282e98c374ab7" /><Relationship Type="http://schemas.openxmlformats.org/officeDocument/2006/relationships/notesSlide" Target="/ppt/notesSlides/notesSlide1.xml" Id="R7d0315fee8a944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6ad20d3a4008" /><Relationship Type="http://schemas.openxmlformats.org/officeDocument/2006/relationships/notesSlide" Target="/ppt/notesSlides/notesSlide2.xml" Id="R8a6ed2a4b214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c92de2f244608" /><Relationship Type="http://schemas.openxmlformats.org/officeDocument/2006/relationships/notesSlide" Target="/ppt/notesSlides/notesSlide3.xml" Id="R5b6fe35747a246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9fbaed92442be" /><Relationship Type="http://schemas.openxmlformats.org/officeDocument/2006/relationships/notesSlide" Target="/ppt/notesSlides/notesSlide4.xml" Id="R5f1a6836d6fa4c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9cfc146294dc1" /><Relationship Type="http://schemas.openxmlformats.org/officeDocument/2006/relationships/notesSlide" Target="/ppt/notesSlides/notesSlide5.xml" Id="R31af41c7ca6e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9916571c44e06" /><Relationship Type="http://schemas.openxmlformats.org/officeDocument/2006/relationships/notesSlide" Target="/ppt/notesSlides/notesSlide6.xml" Id="Rd917a3fcd6f540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057f1a9c429f" /><Relationship Type="http://schemas.openxmlformats.org/officeDocument/2006/relationships/notesSlide" Target="/ppt/notesSlides/notesSlide7.xml" Id="R7a330d70799b4f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70ac04276403f" /><Relationship Type="http://schemas.openxmlformats.org/officeDocument/2006/relationships/notesSlide" Target="/ppt/notesSlides/notesSlide8.xml" Id="R09a22c0f8fab45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7d57101be4dbf" /><Relationship Type="http://schemas.openxmlformats.org/officeDocument/2006/relationships/notesSlide" Target="/ppt/notesSlides/notesSlide9.xml" Id="Rbe45ff4d85d74c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b02b74b94726" /><Relationship Type="http://schemas.openxmlformats.org/officeDocument/2006/relationships/notesSlide" Target="/ppt/notesSlides/notesSlide10.xml" Id="R8754ae06436b49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969A6-10FC-4310-8813-1EDF5AE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8B5B3-39A7-42BE-8916-C996387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0436A-280F-485E-A190-AB293A0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毕业设计答辩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16166-B037-4EAD-A50B-1CE11BF2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01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E5BC3-0F86-4E6D-816F-D6E33EF8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E751F-FDA7-495E-9AB6-B5E7390C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2B6F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938BC-7B65-4680-9DD7-3346F21E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FinAudit-Graph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4B4A2-44C4-4D26-9CD9-2EF9D74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端到端智能财务审计与合规审查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E43EE-F33E-4A3E-BEFB-BC17685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围绕“上传审计材料 -&gt; 多智能体分析 -&gt; 图谱/RAG 增强 -&gt; 风险识别 -&gt; 自动化记录 -&gt; 报告生成”构建可运行、可解释、可答辩的审计原型。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42915-DF1A-429A-85CD-27F1928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17EF4-2FF8-4E9A-922B-3621ABB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F7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B6F77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65043-2276-4451-99BF-92A83DB6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LangGraph 核心节点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0D126-8032-4B12-9D9D-C6CD2DB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005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EDAAE-C293-47DE-9D9E-05FF93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4F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74F2D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22156-C3AD-4647-8DDD-146E3356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审计风险 SFT 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BB56C-6D8E-4C6D-A976-CBF765BE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00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E789D-81E2-4566-9433-DD5B4677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7C4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47C4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22210-8459-43B0-A43E-4910B86E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报告格式 Markdown / DOCX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682D8-F021-4890-8857-7D6A83F6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47988-F19D-444A-8922-D84254E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94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69438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88E4F-E223-4D05-A70C-367C1D3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自动化测试通过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96EAA-57AD-4101-8E29-D9959B7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答辩主线：项目背景与目标 / 技术架构 / 核心功能演示 / 技术亮点 / 个人贡献与收获 / 演示视频</a:t>
            </a:r>
          </a:p>
        </p:txBody>
      </p:sp>
    </p:spTree>
    <p:extLst>
      <p:ext uri="{BB962C8B-B14F-4D97-AF65-F5344CB8AC3E}">
        <p14:creationId xmlns:p14="http://schemas.microsoft.com/office/powerpoint/2010/main" val="15854020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56413-E04F-4E06-A439-BCF3852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EF5EA-E720-4740-A64F-6F9C2C7E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7C06B-C06B-47D1-A193-048C81C5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项目背景与目标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A2181-40CA-42BE-8D74-786AB5A9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54132-06D0-4757-A660-75C044CD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FD36B-408A-40A1-8B08-F8B78AFF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审计场景需要把“能分析”变成“可追溯的流程”。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E355A-12DC-49D8-B4AA-9B9106BC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762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1F938-6779-4355-BA17-E2043678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现实痛点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4BFE8-AD3A-4C39-9F38-4C4F2013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D7D74-DBF2-475B-BBB2-B561E66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3762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财务审计材料非结构化，人工阅读和提炼成本高。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48831-2D2A-4B78-B468-6FA8A2E0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4B91E-C56A-49F1-AA22-4165881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3762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大模型单次问答难以解释每一步依据和中间状态。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E7D50-3017-476B-A95D-49538C49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75D45-EEEA-48FF-A30B-3124C773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3762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关联方、准则依据、自动化留痕通常分散在不同系统。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49DB8-21DE-456A-A355-271C9754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7C014-BF65-44D4-AC81-EFF8AD60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项目目标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1DE5F-EBCC-4F32-9379-6E3CA179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5CFB9-496D-47BD-9A31-D29C264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3762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构建从材料上传到报告落盘的端到端 MVP。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85D3D-48DB-4909-8033-1E87B4A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81099-18CD-4A00-82AA-90F9500D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3762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用 LangGraph 显式拆解审计智能体流程。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A91EC-1252-4E88-98CD-3C4D56A8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51E0E-B2A3-433A-9C98-B193310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3762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结合 LoRA、DeepSeek、Neo4j/RAG fallback 形成可答辩证据链。</a:t>
            </a:r>
          </a:p>
        </p:txBody>
      </p:sp>
    </p:spTree>
    <p:extLst>
      <p:ext uri="{BB962C8B-B14F-4D97-AF65-F5344CB8AC3E}">
        <p14:creationId xmlns:p14="http://schemas.microsoft.com/office/powerpoint/2010/main" val="13049204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8FAFC-E462-430B-8963-1177B7CC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10994-CFBD-4271-9CAE-3BD55F6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FD8EB-B99E-4CAF-9BE4-FE78C87C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技术架构图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6A4ED-9BCB-4821-8C5E-3952D4AE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4078-6D99-445B-BC5B-40CA178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786FB-668D-40FD-AFC9-555A02C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架构围绕一条审计闭环组织，而不是单点模型调用。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F2180-DAA3-4EE9-93DE-DCBBB983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82857-ADC9-4A82-83F8-AA34D0C9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用户入口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BFBB8-7FFB-494B-904C-906BB095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Streamlit 上传 txt / pdf / docx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查看审计报告与 N8N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62516-1402-49ED-B041-3C5038D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4F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4F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2C581-1257-4B6D-894E-FF2F8A70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E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5B89E-1177-45C7-B95E-8FCF59B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业务编排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3F4E7-FA32-4588-A8BE-C388DEC5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LangGraph 状态图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四节点顺序流转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11E66-3C76-44C1-A471-BE134388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4F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4F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B906D-24F6-4F56-8739-19D1E2A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85996-DF9C-4A14-840C-66B251DD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669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增强层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0F51B-1773-4752-A556-AD5BD64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289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DeepSeek 可选分析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Neo4j / RAG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0EE3F-3402-42A7-916F-3392C513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4F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4F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16C64-9ADD-46B5-9518-9C029F4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5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AD95F-8619-44EC-A463-8C5AFBF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输出层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FF9FC-51FC-47E9-8BC3-A0128074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风险清单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Markdown / DOCX 报告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自动化记录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84AD0-3F6A-47F3-9198-7F01C679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8001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B5F16-4BE9-44AB-8DAC-4D20C81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2450"/>
            <a:ext cx="714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关键设计：外部服务可插拔，DeepSeek / Neo4j / N8N 不可用时仍通过本地规则、JSON 图谱和 dry-run payload 保证演示稳定。</a:t>
            </a:r>
          </a:p>
        </p:txBody>
      </p:sp>
    </p:spTree>
    <p:extLst>
      <p:ext uri="{BB962C8B-B14F-4D97-AF65-F5344CB8AC3E}">
        <p14:creationId xmlns:p14="http://schemas.microsoft.com/office/powerpoint/2010/main" val="12093813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D1C0E-DE56-465E-A42A-F6B3B26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0EEE7-4644-49CB-9677-17188EBB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F71B2-8504-46B0-AF31-69B0DAAF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核心流程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BBC82-B652-44EA-A55B-76D4F1E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2F000-89EB-4530-9572-188CA77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D5F5D-CD80-4A22-8D57-B0B8775F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四节点流程让审计判断有清晰的输入、状态和输出。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ADE70-8D7D-495E-9684-5B6A5D6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C8167-F705-4453-AAEB-AF46E59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6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Parser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D7490-D2E4-4337-9942-F2E536BE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解析企业名称、年度、财务指标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支持 txt / pdf / docx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06CB9-DE2E-459B-8213-D21D127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4F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4F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090EB-0B49-499F-B9EC-1E9E4E4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E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4C1BE-3C62-48C8-8F21-E573EF4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66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Graph Searcher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9EC9F-83E1-4057-8491-B58D4CB6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检索关联方和控制关系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Neo4j 不可用时读本地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FB3E9-F998-448E-9B64-4706A164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1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4F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4F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5BF5E-E5DC-438E-B23A-D73054AC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E870F-59D7-4031-AC93-AC84055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66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Compliance Checker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BACED-1B32-43E3-A4B2-D6253DBF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28925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调用 DeepSeek 或本地规则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输出风险等级和依据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B22F0-0840-43C5-BDC8-AFB6CF0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4F2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74F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DFBD3-362B-400F-A489-55BABED9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33625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5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22041-4208-4BBB-B303-B9C59F2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66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Generator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E2D34-D180-47A4-AD7D-2C9B9E6A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28925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生成摘要、整改建议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落盘 Markdown / DOCX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7BA15-A8FE-4406-9C6D-39C99B1F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状态对象贯穿全流程：材料内容、图谱证据、准则依据、风险结果和报告文本都可被检查。</a:t>
            </a:r>
          </a:p>
        </p:txBody>
      </p:sp>
    </p:spTree>
    <p:extLst>
      <p:ext uri="{BB962C8B-B14F-4D97-AF65-F5344CB8AC3E}">
        <p14:creationId xmlns:p14="http://schemas.microsoft.com/office/powerpoint/2010/main" val="10781932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BDAC7-86FE-4A5E-8718-A836B627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D9EC2-D7D0-4E09-BE32-17CB3549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589D7-07CE-4343-8C72-C355C28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核心功能演示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85555-0BC3-4E3E-90AA-4968F021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4ECB9-197D-474C-8A25-59D91F2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FFFCB-955F-4234-BF1F-C79DBA05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现场演示聚焦三件事：上传、分析、交付。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D8A62-D002-4A68-8ABF-F794296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099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388B8-03F0-4CBF-9EFA-49E60D8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2B6F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F61E5-F6E2-4013-AD45-B939130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6472D-FAF8-4C27-AA79-8B901EC8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前端上传材料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57416-6447-4988-8C3B-CCFC68DB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76C78-8BAE-4F2C-B7F6-DF572319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33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打开 http://localhost:8501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13CAF-E3EC-4B8F-B957-1C5318E4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975AF-E387-4E87-8DD6-285BEFE9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上传 data/raw/test_audit.txt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C24A5-18EB-4A5F-9698-F6D6430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0099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2D4FB-4C35-4CAC-A70D-0D9914A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B74F2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DFEF7-FB05-48E3-8CCB-E4B5C14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050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4DC8E-7A15-4F66-93ED-FF6AEBC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触发智能分析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68665-9FF0-4C0E-B00B-B4FA463D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C9D5A-0EEF-43BA-B01F-684E96D9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33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点击开始审计分析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67CA2-1433-45E4-90C1-08EEAD74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1DCF7-B9AC-43C7-B465-45446A42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86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查看风险点、依据与建议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4A54D-E103-4975-B201-7C1045B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0099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213A4-23DC-4074-8B27-44A06A5B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C4C"/>
          </a:solidFill>
          <a:ln xmlns:a="http://schemas.openxmlformats.org/drawingml/2006/main" w="0">
            <a:solidFill>
              <a:srgbClr val="547C4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DD811-DE20-41DA-A0BD-E48F4F1F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218C2-2D22-4310-BFB0-9643D97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输出交付成果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60592-1EBA-4C37-BEA5-FFC616E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FABB9-A2EB-4234-9CF3-50E08ADB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下载 Markdown 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C777C-588E-4272-852A-2B36F69C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F072A-BF63-469B-87F8-D9C7EAF0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保留 DOCX 与 N8N payload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8AC13-807B-455A-A4AE-06C55C0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687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演示目标：证明系统不是静态页面，而是能从真实文件输入生成审计结论和报告文件。</a:t>
            </a:r>
          </a:p>
        </p:txBody>
      </p:sp>
    </p:spTree>
    <p:extLst>
      <p:ext uri="{BB962C8B-B14F-4D97-AF65-F5344CB8AC3E}">
        <p14:creationId xmlns:p14="http://schemas.microsoft.com/office/powerpoint/2010/main" val="4805227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64363-CF8D-4B46-876C-453BCA14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0C9FC-9527-4956-8705-DAFAF51F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42692-3EF8-43CB-81EB-1418166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核心功能演示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1F1BE-5938-4B31-A974-D451870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C4969-7512-4377-9533-8CC86A1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7E13F-6322-4E5A-9377-D1A53BCD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MVP 已形成可交付证据，而不只是概念验证。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19BA8-138B-46B2-B3D1-CB7F147C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09472-CC15-41D4-9C0E-0A248D0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F7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B6F77"/>
                </a:solidFill>
                <a:latin typeface="Aptos Display"/>
                <a:ea typeface="Aptos Display"/>
                <a:cs typeface="Aptos Display"/>
              </a:rPr>
              <a:t>测试科技有限公司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1314F-A399-415D-8ED8-585E4CD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从上传文本中解析企业名称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9BC7D-4B5C-4084-999A-C809D02A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8C857-F074-4061-BA0B-AF0420C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7C4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47C4C"/>
                </a:solidFill>
                <a:latin typeface="Aptos Display"/>
                <a:ea typeface="Aptos Display"/>
                <a:cs typeface="Aptos Display"/>
              </a:rPr>
              <a:t>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B2343-B063-4C32-829E-8DC2BE1A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从材料中识别报告年度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FDEB-730C-46E8-AD64-2CF21ED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70678-188B-4B69-A542-77D60E10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4F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74F2D"/>
                </a:solidFill>
                <a:latin typeface="Aptos Display"/>
                <a:ea typeface="Aptos Display"/>
                <a:cs typeface="Aptos Display"/>
              </a:rPr>
              <a:t>35.5%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0CD0A-1434-4C3C-80D0-2AED64B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识别关键财务指标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CC7B5-F821-4652-B4D6-F861E1D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21DFB-329A-49F1-AA7B-47089BDD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生成文件：outputs/test_audit_audit_report.md + outputs/test_audit_audit_report.docx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ABD84-47DF-4039-B766-ADADA2F5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自动化记录：未配置真实 N8N webhook 时，仍生成 dry-run payload 作为审计留痕。</a:t>
            </a:r>
          </a:p>
        </p:txBody>
      </p:sp>
    </p:spTree>
    <p:extLst>
      <p:ext uri="{BB962C8B-B14F-4D97-AF65-F5344CB8AC3E}">
        <p14:creationId xmlns:p14="http://schemas.microsoft.com/office/powerpoint/2010/main" val="3426853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193A50-C3DE-40B4-9326-5E01005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03C7E-C16A-4F9D-9AAD-29FC4111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66773-2506-4E08-AECF-97C9EF8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技术亮点与创新点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EAE00-FAEE-4AAB-9B03-709ABF23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27ACB-375E-44EB-BFA0-F8AF7D14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5A42C-CF9A-417F-A184-26E91FC7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LoRA 证明领域适配闭环，主流程优先保证稳定演示。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46C63-421F-48A6-9DE2-F4D7946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22246-CF99-477F-B7A4-9C37D57B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F7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B6F77"/>
                </a:solidFill>
                <a:latin typeface="Aptos Display"/>
                <a:ea typeface="Aptos Display"/>
                <a:cs typeface="Aptos Display"/>
              </a:rPr>
              <a:t>Qwen2.5-1.5B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43996-0BBE-4065-A598-A2A6AAC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基座模型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C157E-2389-41D8-A551-42973D58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EB5F8-000A-4471-9AD7-EAE9679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4F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74F2D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C4658-A4A2-4B22-AE2C-A091F5A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194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Label Studio 标注样本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7B407-CAFE-4382-8504-ACD30C9E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0F79B-77A9-4308-83FC-1512BA0F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7C4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47C4C"/>
                </a:solidFill>
                <a:latin typeface="Aptos Display"/>
                <a:ea typeface="Aptos Display"/>
                <a:cs typeface="Aptos Display"/>
              </a:rPr>
              <a:t>1.4076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DCB30-6988-4A1A-B4E7-78BCCA1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训练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5BE63-194A-4001-B17A-108189E5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C96C1-D194-45F6-BFC8-7C9B077A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94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69438"/>
                </a:solidFill>
                <a:latin typeface="Aptos Display"/>
                <a:ea typeface="Aptos Display"/>
                <a:cs typeface="Aptos Display"/>
              </a:rPr>
              <a:t>52s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23169-4DA0-480F-AFEB-85607D9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约训练耗时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7DEB6-07E3-4B18-8659-E6F06988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8953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32557-3FA6-41BA-AE9E-9958ABFF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571CE-B102-483E-BF6E-B0DD809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05300"/>
            <a:ext cx="762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LoRA adapter 已保存到 model_artifacts/lora_adapter，不包含完整基座模型。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CBDFB-D4B4-47BF-9361-5CC3465B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854D8-6E07-4D29-9B21-039F0327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19650"/>
            <a:ext cx="762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前端不展示 LoRA，是因为审计用户更关心上传、风险和报告；技术成果放在 CLI 与答辩材料中。</a:t>
            </a:r>
          </a:p>
        </p:txBody>
      </p:sp>
    </p:spTree>
    <p:extLst>
      <p:ext uri="{BB962C8B-B14F-4D97-AF65-F5344CB8AC3E}">
        <p14:creationId xmlns:p14="http://schemas.microsoft.com/office/powerpoint/2010/main" val="1507914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8C548-2582-4462-851D-2F1F782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9C080-F0BC-411B-9798-60F78685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91E96-4A0F-43A2-81C0-F9A336EA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技术亮点与创新点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BAEA3-D7CE-44E7-A70C-57C5A1B2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D5826-3ED4-4A26-8078-87BC246F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CDC01-A4E3-4BD3-99BE-663AD182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Fallback 机制让答辩现场不被外部服务绑架。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7A3EC-4763-4000-84F0-0D4B43C6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B088F-7DF6-4274-A173-D8461D02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DeepSeek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895A7-39B9-4928-AA81-E7E1168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有 API key 时调用 OpenAI-compatible chat completions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失败后回退本地规则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4F945-E5AF-4FBB-86E9-9DC3DD4F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E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E6124-7516-4B21-A3BF-1721A46F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764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Neo4j / 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5D6F6-31DC-4023-B0DF-31E46197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真实服务待接入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本地 JSON 图谱与准则库保证结果可复现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7AA47-D116-4861-AC88-8279FEDB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5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D0962-3F03-4071-A9EF-7FC3802D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76475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N8N / 飞书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C8387-6998-4D4C-A12D-C47AFF93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38425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未配置 webhook 时输出 dry-run payload</a:t>
            </a:r>
          </a:p>
          <a:p xmlns:a="http://schemas.openxmlformats.org/drawingml/2006/main">
            <a:pPr algn="l">
              <a:defRPr sz="9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后续可写入真实自动化工作流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97F8A-B7FB-43AD-AB30-4736C1B0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33875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21668-BCC3-47EE-83B3-A7491FC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35BCD-E143-4056-87E1-FA9F7208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4820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创新点不是把工具堆在一起，而是把模型、图谱、准则依据和自动化记录串成可运行的审计工程闭环。</a:t>
            </a:r>
          </a:p>
        </p:txBody>
      </p:sp>
    </p:spTree>
    <p:extLst>
      <p:ext uri="{BB962C8B-B14F-4D97-AF65-F5344CB8AC3E}">
        <p14:creationId xmlns:p14="http://schemas.microsoft.com/office/powerpoint/2010/main" val="1292257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7B950-5C88-46C2-B5EB-F54CE5DC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51226-528C-43F0-8FD6-F115D83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2BA11-2A1E-43E5-BDD4-0E01F5F3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个人贡献与收获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77D5D-B183-4075-BAE4-01E1D4F3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FDAED-470F-4DEC-A135-9938322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257CB-7CF7-4097-9C5F-8287297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个人工作覆盖数据、模型、工程和演示闭环。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E684B-FE0C-4920-A789-C4FC6D6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667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21C21-C083-41CD-99E8-B12C9322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个人贡献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840A3-4DCD-471D-9DC1-3B927B37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03F2F-D19C-48D8-8984-3DFE7981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整理 Label Studio 标注数据并完成 LoRA 训练产物归档。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EDB6C-4A9B-4318-A494-B5574592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7C364-35D7-4CB8-8606-547C233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实现 LangGraph 四节点审计流程和 DeepSeek 可选调用。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77E42-B78D-4A6F-BEBC-DE9800D2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34970-A7E7-4638-BD8A-0346297B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完成 Streamlit 前端、报告生成、N8N payload 和测试验证。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00A94-A305-4B29-9ED8-0461169A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667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28F44-58CA-4684-9621-3D5FB27D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主要收获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C40DC-3155-4F6A-9377-AEE27A12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1B700-C949-4BA5-8087-B9C71FA4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理解了从模型训练到业务系统落地的工程边界。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072FF-7DFC-4F95-92C6-5E798F6C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A354F-67A9-455F-9C12-7CF840EA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掌握了可解释多智能体流程的拆分和调试方式。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49208-9FD0-4F3A-A042-48BFA65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29BEC-118F-4771-9AA8-DC43ED1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认识到演示稳定性、fallback 和可复现证据的重要性。</a:t>
            </a:r>
          </a:p>
        </p:txBody>
      </p:sp>
    </p:spTree>
    <p:extLst>
      <p:ext uri="{BB962C8B-B14F-4D97-AF65-F5344CB8AC3E}">
        <p14:creationId xmlns:p14="http://schemas.microsoft.com/office/powerpoint/2010/main" val="3606538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B5D3C-86C8-46B1-A1E6-13567CD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A53BB-B992-4AED-A486-D821D8AE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762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3E5CE-4DF8-4BAB-93E0-F8F6B96E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6F77"/>
                </a:solidFill>
                <a:latin typeface="Aptos"/>
                <a:ea typeface="Aptos"/>
                <a:cs typeface="Aptos"/>
              </a:rPr>
              <a:t>演示视频（如有）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2AB12-1152-45E0-A2EF-4B67C93E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FEEEF-8102-4A7E-BFA9-840B1C4D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B0A21-D08D-4CD7-8C42-D8FB318F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演示视频可作为现场操作的备份证据。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2AD28-5540-4BAF-8FA5-55089647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9F932-1BF3-4458-AE39-701ADBAD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视频占位区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A2B10-9128-4D15-A399-76BD5DF3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E8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5"/>
                </a:solidFill>
                <a:latin typeface="Aptos"/>
                <a:ea typeface="Aptos"/>
                <a:cs typeface="Aptos"/>
              </a:rPr>
              <a:t>可放：前端首页 / 上传分析 / 报告文件 / 测试通过 4 段录屏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DD132-BF48-4D49-A73C-6BA7493A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2002B-89B2-4F8F-9CE8-80A3BC1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没有视频时的讲法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FAF3C-371B-4167-8EC4-8A6CECA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4EB18-750A-493C-93F0-6788842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现场直接打开 Streamlit 页面演示。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E2174-2BAB-4680-9C7B-2F11117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AF666-1759-416D-806D-2A26A31B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展示 outputs 中生成的 md / docx 报告。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6CD4C-75F2-47AA-8DDB-7BCCC81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1B57E-5CE5-4F73-A228-0ECF2C9D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用测试通过结果证明流程稳定。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76519-A5CF-4EC2-89D1-5DA990EA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816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7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775"/>
                </a:solidFill>
                <a:latin typeface="Aptos"/>
                <a:ea typeface="Aptos"/>
                <a:cs typeface="Aptos"/>
              </a:rPr>
              <a:t>收尾句：本项目完成了从审计材料输入到风险判断、自动化留痕和报告交付的可运行 MVP。</a:t>
            </a:r>
          </a:p>
        </p:txBody>
      </p:sp>
    </p:spTree>
    <p:extLst>
      <p:ext uri="{BB962C8B-B14F-4D97-AF65-F5344CB8AC3E}">
        <p14:creationId xmlns:p14="http://schemas.microsoft.com/office/powerpoint/2010/main" val="169511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2026-06-03T15:29:34.4730000Z</dcterms:created>
  <dcterms:modified xsi:type="dcterms:W3CDTF">2026-06-03T15:29:34.4730000Z</dcterms:modified>
</coreProperties>
</file>